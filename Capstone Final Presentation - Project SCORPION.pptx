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90" r:id="rId2"/>
    <p:sldId id="491" r:id="rId3"/>
    <p:sldId id="492" r:id="rId4"/>
    <p:sldId id="493" r:id="rId5"/>
    <p:sldId id="494" r:id="rId6"/>
    <p:sldId id="495" r:id="rId7"/>
    <p:sldId id="496" r:id="rId8"/>
    <p:sldId id="497" r:id="rId9"/>
    <p:sldId id="498" r:id="rId10"/>
    <p:sldId id="499" r:id="rId11"/>
    <p:sldId id="500" r:id="rId12"/>
    <p:sldId id="501" r:id="rId13"/>
    <p:sldId id="5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53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9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-285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94FBD-BD12-4CE5-9292-60EAA74DE00F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89866-A2D7-4664-9240-D34AE6ACD9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68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2295-EE4D-4726-9BEF-C12D83E84F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90F72-0773-4347-9B33-ECB7116E6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5345D-741D-400B-A97C-1381C32DA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235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013A2-A39E-4DA2-B0D1-992153C8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1890" y="6356349"/>
            <a:ext cx="409904" cy="365125"/>
          </a:xfrm>
        </p:spPr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5A087-2FE8-4B27-8409-B216CDD177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328" t="18364" r="50000" b="68324"/>
          <a:stretch/>
        </p:blipFill>
        <p:spPr>
          <a:xfrm>
            <a:off x="210206" y="5920169"/>
            <a:ext cx="3983421" cy="8723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07E137-90D3-FC4F-BE12-4E7C242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7787" y="6313007"/>
            <a:ext cx="2761727" cy="40846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60630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73AC-D6C3-45A0-B8B7-BC6FC521C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090" y="196966"/>
            <a:ext cx="10993816" cy="92764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EC43C-CC95-4354-91C1-E7844CA75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471448"/>
            <a:ext cx="10993816" cy="3924575"/>
          </a:xfrm>
        </p:spPr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  <a:lvl5pPr marL="2057400" indent="-228600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1D596-D5DF-4E91-85BB-1C2F30E3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2714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5E9E-31B3-48F3-9AF2-4E65C4D6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2906" y="6356350"/>
            <a:ext cx="444056" cy="365125"/>
          </a:xfrm>
        </p:spPr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E7AE3-1A05-47CF-A169-9457F34A03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328" t="18364" r="50000" b="68324"/>
          <a:stretch/>
        </p:blipFill>
        <p:spPr>
          <a:xfrm>
            <a:off x="185268" y="5787165"/>
            <a:ext cx="3983421" cy="8723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B26634-3EBB-9AFA-E36C-030FB4BD0E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7787" y="6263132"/>
            <a:ext cx="2761727" cy="40846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0902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C03A-EB68-4559-8CA1-85E6C1F17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46944-9C56-4300-AFF1-45B9C06D3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FCBE9-1A05-41E9-A1BD-1EC745F5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4CCC1-A424-4978-9841-EB9602D2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14FEB-E652-44FC-9C5B-FECBE8B5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8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5602-0161-4F8D-957A-45EE83D7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B2A90-7E94-434C-926A-09169D4FA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FBC6B-BDAE-4D75-BA86-22B6B3BE3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BFFE1-FEF2-426E-A327-4105801B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1D291-F1EE-4E45-B02D-6DD10019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94295-99FA-4D50-B585-5320493B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43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B6D7-EF14-41C4-9166-F400A1A23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B258E-E2F4-48F3-8B49-6B6C02940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DA910-AB9F-4563-9E92-1EAB2D8AC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14051-9B91-431E-93D2-36411FBD7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BDACD-DA1F-4F0A-BC13-601B5F466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B32BB-D088-4B04-AC8A-894B95D6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7AA9B-BB1B-41EC-B017-B611D659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380C96-99E0-46EB-8757-A2F2B5ED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26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119F-109A-49B2-97D0-EC24B082C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DA2FD-94E5-439A-A826-BE6D3223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52724A-468A-471D-9AAC-B11844D9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21233-5DBF-4360-B366-A7AB9991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48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8AE49-B25D-448F-BF58-E805680A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28DB6-0309-4C53-B37C-8FE328CD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50FE5-048C-475E-B3AD-E28D718C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7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50E3-2ADA-426E-A617-5C57B5F3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BFB05-946D-495A-8852-FA3F49A54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6EB8E-4FF8-4B94-B18A-7BAB93F2D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2E9CB-BCB0-46BF-B3D9-B3E6A64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2D61C-4287-45D1-B7AA-63EAEF6F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57BFD-1726-4562-9F43-5B4B33AE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69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E452-8938-446A-9FAF-848FC472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61BDF7-42F2-4E87-898A-646E6EC9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BE3CA-E1A6-4186-9DAA-8EC550ED0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29E28-1B1D-46CA-8CE4-312CCB02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5E15E-EA6D-4313-9294-E399BE5A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51D20-D6D8-429D-A1A0-CF65920F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76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24B5-2AEC-403A-9C1D-73F6430A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9BF11-3C14-48AC-8050-71E391A6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EA021-B2FF-46B9-B704-9E493688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31986-F28C-49A0-BBC7-13B57A67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C5DE-D72C-4903-B4A4-6926E1B3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1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524F7-1C9F-44A2-AB3A-4D688AEF5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CEE8A-B408-40D4-BE01-ADF26A0DA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2D47F-EC99-4C91-B3DC-77C1A8E8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35097-42FB-4664-9C4E-6501AEE0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0BF61-A3AA-4010-85A9-E702045E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50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422024-6B26-4484-AC83-D4DC93B2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05136-77C7-455F-8B14-69A7E82F8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4F51F-45FB-409B-9032-8A9E9F65B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8E2DE-CE3F-42A9-A718-5D3D4BD14CF9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6D231-8541-40B1-96EF-4970943E1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980EE-FC7C-49EC-838D-9F4130103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F9196-C982-4B01-9384-55A88EC11B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61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pwolf\Desktop\Capstone%20-%20Applied%20DS%20Project\Capstone%20Project\Supplier%20Dashboard%20Code\Suppplier%20Dashboard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8C48C-921F-4AEB-3149-037D807A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oup of logos of different brands&#10;&#10;AI-generated content may be incorrect.">
            <a:extLst>
              <a:ext uri="{FF2B5EF4-FFF2-40B4-BE49-F238E27FC236}">
                <a16:creationId xmlns:a16="http://schemas.microsoft.com/office/drawing/2014/main" id="{66D28B0B-349F-BE0F-915C-E091B15B4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8" r="5613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  <a:noFill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90F253-A903-B45D-7A69-56ACE21BBE41}"/>
              </a:ext>
            </a:extLst>
          </p:cNvPr>
          <p:cNvSpPr txBox="1">
            <a:spLocks/>
          </p:cNvSpPr>
          <p:nvPr/>
        </p:nvSpPr>
        <p:spPr>
          <a:xfrm>
            <a:off x="6094475" y="365125"/>
            <a:ext cx="5581650" cy="2873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200" dirty="0"/>
              <a:t>Project SCORPION: A CRISP-DM Analysis for Conagra Brands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30FFB2-E64E-BD86-9A44-83DEB61D9299}"/>
              </a:ext>
            </a:extLst>
          </p:cNvPr>
          <p:cNvSpPr txBox="1">
            <a:spLocks/>
          </p:cNvSpPr>
          <p:nvPr/>
        </p:nvSpPr>
        <p:spPr>
          <a:xfrm>
            <a:off x="7531609" y="3993126"/>
            <a:ext cx="3822189" cy="249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CS703-151W: Applied Data Science Project</a:t>
            </a:r>
          </a:p>
          <a:p>
            <a:pPr marL="0" indent="0" algn="ctr">
              <a:buNone/>
            </a:pPr>
            <a:r>
              <a:rPr lang="en-US" sz="2400" b="1" dirty="0"/>
              <a:t>Submitted By: Paulette Wolfe</a:t>
            </a:r>
            <a:br>
              <a:rPr lang="en-US" sz="2400" b="1" dirty="0"/>
            </a:br>
            <a:r>
              <a:rPr lang="en-US" sz="2400" b="1" dirty="0"/>
              <a:t>July 26, 2025</a:t>
            </a:r>
          </a:p>
          <a:p>
            <a:pPr marL="0" indent="0" algn="ctr">
              <a:buNone/>
            </a:pPr>
            <a:r>
              <a:rPr lang="en-US" sz="2400" b="1" dirty="0"/>
              <a:t>Professor Nicholas Nardi</a:t>
            </a:r>
          </a:p>
        </p:txBody>
      </p:sp>
    </p:spTree>
    <p:extLst>
      <p:ext uri="{BB962C8B-B14F-4D97-AF65-F5344CB8AC3E}">
        <p14:creationId xmlns:p14="http://schemas.microsoft.com/office/powerpoint/2010/main" val="2365041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921BD-F48F-6868-80A1-E3F770341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Small tree">
            <a:extLst>
              <a:ext uri="{FF2B5EF4-FFF2-40B4-BE49-F238E27FC236}">
                <a16:creationId xmlns:a16="http://schemas.microsoft.com/office/drawing/2014/main" id="{AD0FB4DB-A02F-800E-E749-3FA3E8F241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3848" b="118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972E5A-FF4D-EF70-8F77-139C7936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Project Overview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2830858-9DC9-24DB-6FC5-27B25373AE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The Problem: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Supply chain fragility and recent service interruptions are impacting Conagra's financial performance. Our traditional, spend-based supplier management is reactive and no longer sufficient.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The 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Project SCORPION uses a multi-algorithm approach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K-Means, Random Forest, Decision Tree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) to create a proactive, data-driven supplier segmentation model.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The Goal: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To move beyond simple cost metrics and create a holistic view of supplier performance that identifies risks, uncovers savings, and highlights strategic partners, directly supporting the "Fuel for Growth" initiative.</a:t>
            </a:r>
          </a:p>
        </p:txBody>
      </p:sp>
    </p:spTree>
    <p:extLst>
      <p:ext uri="{BB962C8B-B14F-4D97-AF65-F5344CB8AC3E}">
        <p14:creationId xmlns:p14="http://schemas.microsoft.com/office/powerpoint/2010/main" val="2088014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56CE-39EC-1254-0923-A75FE435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472EC1-8563-884D-02C8-DFFD55B09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471448"/>
            <a:ext cx="10993816" cy="42435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/>
              <a:t>Business Objectives</a:t>
            </a:r>
          </a:p>
          <a:p>
            <a:r>
              <a:rPr lang="en-US" b="1" dirty="0"/>
              <a:t>Enhance Resilience:</a:t>
            </a:r>
            <a:r>
              <a:rPr lang="en-US" dirty="0"/>
              <a:t> Proactively identify and mitigate supplier risk.</a:t>
            </a:r>
          </a:p>
          <a:p>
            <a:r>
              <a:rPr lang="en-US" b="1" dirty="0"/>
              <a:t>Drive Growth:</a:t>
            </a:r>
            <a:r>
              <a:rPr lang="en-US" dirty="0"/>
              <a:t> Optimize total cost of ownership to fuel savings.</a:t>
            </a:r>
          </a:p>
          <a:p>
            <a:r>
              <a:rPr lang="en-US" b="1" dirty="0"/>
              <a:t>Strengthen Partnerships:</a:t>
            </a:r>
            <a:r>
              <a:rPr lang="en-US" dirty="0"/>
              <a:t> Identify top performers for innovation.</a:t>
            </a:r>
          </a:p>
          <a:p>
            <a:r>
              <a:rPr lang="en-US" b="1" dirty="0"/>
              <a:t>Align with Values:</a:t>
            </a:r>
            <a:r>
              <a:rPr lang="en-US" dirty="0"/>
              <a:t> Integrate ESG scores into performance evaluation.</a:t>
            </a:r>
          </a:p>
          <a:p>
            <a:pPr marL="0" indent="0">
              <a:buNone/>
            </a:pPr>
            <a:r>
              <a:rPr lang="en-US" b="1" i="1" dirty="0"/>
              <a:t>Data Mining Goals</a:t>
            </a:r>
          </a:p>
          <a:p>
            <a:r>
              <a:rPr lang="en-US" b="1" dirty="0"/>
              <a:t>Profile:</a:t>
            </a:r>
            <a:r>
              <a:rPr lang="en-US" dirty="0"/>
              <a:t> Establish a data-backed baseline of supplier performance.</a:t>
            </a:r>
          </a:p>
          <a:p>
            <a:r>
              <a:rPr lang="en-US" b="1" dirty="0"/>
              <a:t>Segment &amp; Classify:</a:t>
            </a:r>
            <a:r>
              <a:rPr lang="en-US" dirty="0"/>
              <a:t> Discover natural supplier groups and build a predictive model to understand the key drivers for each.</a:t>
            </a:r>
          </a:p>
          <a:p>
            <a:r>
              <a:rPr lang="en-US" b="1" dirty="0"/>
              <a:t>Create Framework:</a:t>
            </a:r>
            <a:r>
              <a:rPr lang="en-US" dirty="0"/>
              <a:t> Translate the data insights into an actionable playbook.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F121B-2ED9-0E41-0CC8-FE1215FF7063}"/>
              </a:ext>
            </a:extLst>
          </p:cNvPr>
          <p:cNvSpPr txBox="1"/>
          <p:nvPr/>
        </p:nvSpPr>
        <p:spPr>
          <a:xfrm>
            <a:off x="2790825" y="435114"/>
            <a:ext cx="66103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Goals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791518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E21AA-D8C5-7BB5-1520-354F4911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4701-9EC3-B597-AA40-A4303831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Summary of CRISP-DM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D9C43-23AF-9493-073E-7F9F31F80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176867"/>
            <a:ext cx="10993816" cy="4614333"/>
          </a:xfrm>
        </p:spPr>
        <p:txBody>
          <a:bodyPr numCol="2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Phase 1 (Business Understanding):</a:t>
            </a:r>
            <a:r>
              <a:rPr lang="en-US" altLang="en-US" dirty="0"/>
              <a:t> Aligned the project with strategic imperatives like "Fuel for Growth."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Phase 2 (Data Understanding):</a:t>
            </a:r>
            <a:r>
              <a:rPr lang="en-US" altLang="en-US" dirty="0"/>
              <a:t> Profiled the supplier data, revealing wide performance variance.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Phase 3 (Data Preparation):</a:t>
            </a:r>
            <a:r>
              <a:rPr lang="en-US" altLang="en-US" dirty="0"/>
              <a:t> Cleansed the data and engineered powerful new features like </a:t>
            </a:r>
            <a:r>
              <a:rPr lang="en-US" altLang="en-US" dirty="0" err="1"/>
              <a:t>Cost_to_Serve_Ratio</a:t>
            </a:r>
            <a:r>
              <a:rPr lang="en-US" altLang="en-US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Phase 5 (Evaluation):</a:t>
            </a:r>
            <a:r>
              <a:rPr lang="en-US" altLang="en-US" dirty="0"/>
              <a:t> Confirmed high model accuracy (AUC = 0.88) and verified that the framework met all business goals.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Phase 6 (Deployment):</a:t>
            </a:r>
            <a:r>
              <a:rPr lang="en-US" altLang="en-US" dirty="0"/>
              <a:t> Planned the rollout via an interactive dashboard and a continuous improvement process.</a:t>
            </a:r>
          </a:p>
        </p:txBody>
      </p:sp>
    </p:spTree>
    <p:extLst>
      <p:ext uri="{BB962C8B-B14F-4D97-AF65-F5344CB8AC3E}">
        <p14:creationId xmlns:p14="http://schemas.microsoft.com/office/powerpoint/2010/main" val="220856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B09AE-44E8-4BAC-7450-45259D75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AB48-2C6E-476C-AE81-F71B0515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4.0 - A New Paradigm for Segmentation</a:t>
            </a:r>
            <a:endParaRPr lang="en-US" b="1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1790E4-2AAC-8831-B5C5-B15204D2BF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090" y="1166842"/>
            <a:ext cx="109938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1: Discover Segments (K-Means Clustering)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 first used unsupervised clustering to find 4 natural, statistically-valid supplier groups based on performance data, free from any human bias.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2: Predict &amp; Explain (Random Forest)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 then trained a predictive model on these segments to classify suppliers with high accuracy and, most importantly, to identify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they belong to a certain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309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41F3-A392-F3EF-40B0-15CA509EA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100D-82BC-63B9-BDE0-B4262C76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4.0 - The Four New Supplier Segments</a:t>
            </a:r>
            <a:endParaRPr lang="en-US" b="1" dirty="0">
              <a:latin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441805-950C-92B5-DC44-755BA0BB5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395773"/>
              </p:ext>
            </p:extLst>
          </p:nvPr>
        </p:nvGraphicFramePr>
        <p:xfrm>
          <a:off x="819150" y="1148808"/>
          <a:ext cx="10401300" cy="5110746"/>
        </p:xfrm>
        <a:graphic>
          <a:graphicData uri="http://schemas.openxmlformats.org/drawingml/2006/table">
            <a:tbl>
              <a:tblPr/>
              <a:tblGrid>
                <a:gridCol w="3467100">
                  <a:extLst>
                    <a:ext uri="{9D8B030D-6E8A-4147-A177-3AD203B41FA5}">
                      <a16:colId xmlns:a16="http://schemas.microsoft.com/office/drawing/2014/main" val="1209794376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1326536905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1411862143"/>
                    </a:ext>
                  </a:extLst>
                </a:gridCol>
              </a:tblGrid>
              <a:tr h="62936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Segment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Profile</a:t>
                      </a:r>
                      <a:endParaRPr lang="en-US" sz="2800" dirty="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Impact</a:t>
                      </a:r>
                      <a:endParaRPr lang="en-US" sz="2800" dirty="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14307"/>
                  </a:ext>
                </a:extLst>
              </a:tr>
              <a:tr h="103659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Strategic Partners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Elite, innovative, low-risk performers.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Drive long-term competitive advantage.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034695"/>
                  </a:ext>
                </a:extLst>
              </a:tr>
              <a:tr h="103659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Operational Workhorses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The reliable backbone of operations.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Ensure consistent supply.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436549"/>
                  </a:ext>
                </a:extLst>
              </a:tr>
              <a:tr h="103659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High-Cost Specialists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Capable but expensive to manage.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Hidden drag on margins.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553496"/>
                  </a:ext>
                </a:extLst>
              </a:tr>
              <a:tr h="103659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High-Risk Liabilities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Poor performers, high operational risk.</a:t>
                      </a:r>
                      <a:endParaRPr lang="en-US" sz="280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Threaten supply chain continuity.</a:t>
                      </a:r>
                      <a:endParaRPr lang="en-US" sz="2800" dirty="0">
                        <a:effectLst/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263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016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EE07-2C5E-48AD-9869-AF9FCD15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728417E-5F45-8D81-E3F9-51C63FBC9D9D}"/>
              </a:ext>
            </a:extLst>
          </p:cNvPr>
          <p:cNvSpPr txBox="1"/>
          <p:nvPr/>
        </p:nvSpPr>
        <p:spPr>
          <a:xfrm>
            <a:off x="1162050" y="1659285"/>
            <a:ext cx="69151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+mj-lt"/>
              </a:rPr>
              <a:t>Insight: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 15% of suppliers are a direct threat and 25% are a hidden drag on margins.</a:t>
            </a:r>
          </a:p>
          <a:p>
            <a:pPr>
              <a:buNone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+mj-lt"/>
              </a:rPr>
              <a:t>Business Impact: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 Enables targeted strategies - mitigate risk, negotiate costs, and co-innovate with the right partners.</a:t>
            </a:r>
            <a:endParaRPr lang="en-US" sz="3200" dirty="0">
              <a:latin typeface="+mj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00683C-6F5B-E370-DA26-C1B3EFFDF6F2}"/>
              </a:ext>
            </a:extLst>
          </p:cNvPr>
          <p:cNvSpPr txBox="1">
            <a:spLocks/>
          </p:cNvSpPr>
          <p:nvPr/>
        </p:nvSpPr>
        <p:spPr>
          <a:xfrm>
            <a:off x="599092" y="547510"/>
            <a:ext cx="10993816" cy="927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Phase 4.0 - The Four New Supplier Segments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5040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2FEB-1C86-FE19-C77E-976FE563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4E43-249F-0382-65D9-94BDE173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4.0 - Key Drivers of Performance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739E-D5A2-F544-42CA-6F5734DE5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176867"/>
            <a:ext cx="10993816" cy="4614333"/>
          </a:xfrm>
        </p:spPr>
        <p:txBody>
          <a:bodyPr>
            <a:normAutofit/>
          </a:bodyPr>
          <a:lstStyle/>
          <a:p>
            <a:r>
              <a:rPr lang="en-US" dirty="0"/>
              <a:t>The Random Forest model identified the performance metrics that </a:t>
            </a:r>
            <a:r>
              <a:rPr lang="en-US" i="1" dirty="0"/>
              <a:t>truly</a:t>
            </a:r>
            <a:r>
              <a:rPr lang="en-US" dirty="0"/>
              <a:t> matter.</a:t>
            </a:r>
            <a:endParaRPr lang="en-US" sz="2400" dirty="0"/>
          </a:p>
          <a:p>
            <a:pPr fontAlgn="base"/>
            <a:r>
              <a:rPr lang="en-US" b="1" dirty="0"/>
              <a:t>Key Finding:</a:t>
            </a:r>
            <a:r>
              <a:rPr lang="en-US" dirty="0"/>
              <a:t> </a:t>
            </a:r>
            <a:r>
              <a:rPr lang="en-US" b="1" dirty="0"/>
              <a:t>Total Risk Score, Cost-to-Serve Ratio, and Defect Rate</a:t>
            </a:r>
            <a:r>
              <a:rPr lang="en-US" dirty="0"/>
              <a:t> are the most influential factors.</a:t>
            </a:r>
          </a:p>
          <a:p>
            <a:pPr fontAlgn="base"/>
            <a:r>
              <a:rPr lang="en-US" b="1" dirty="0"/>
              <a:t>Critical Insight:</a:t>
            </a:r>
            <a:r>
              <a:rPr lang="en-US" dirty="0"/>
              <a:t> Traditional metrics like </a:t>
            </a:r>
            <a:r>
              <a:rPr lang="en-US" dirty="0" err="1"/>
              <a:t>TotalSpend</a:t>
            </a:r>
            <a:r>
              <a:rPr lang="en-US" dirty="0"/>
              <a:t> are far less important. Our focus has been on the wrong drivers.</a:t>
            </a:r>
          </a:p>
          <a:p>
            <a:pPr fontAlgn="base"/>
            <a:r>
              <a:rPr lang="en-US" b="1" dirty="0"/>
              <a:t>Business Impact:</a:t>
            </a:r>
            <a:r>
              <a:rPr lang="en-US" dirty="0"/>
              <a:t> We now have an objective, data-backed foundation to negotiate and manage performance based on what truly drives value and risk.</a:t>
            </a:r>
          </a:p>
        </p:txBody>
      </p:sp>
    </p:spTree>
    <p:extLst>
      <p:ext uri="{BB962C8B-B14F-4D97-AF65-F5344CB8AC3E}">
        <p14:creationId xmlns:p14="http://schemas.microsoft.com/office/powerpoint/2010/main" val="296336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90F08-48FD-29F9-AF3D-316FFD9A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65B6-2C8A-1B15-39BB-943CEA0F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4.0 - Making the Model Interpretable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D9AC-CFAC-E57A-7B42-4A92298EC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176867"/>
            <a:ext cx="10993816" cy="4614333"/>
          </a:xfrm>
        </p:spPr>
        <p:txBody>
          <a:bodyPr>
            <a:normAutofit/>
          </a:bodyPr>
          <a:lstStyle/>
          <a:p>
            <a:r>
              <a:rPr lang="en-US" dirty="0"/>
              <a:t>To ensure trust and adoption, we translated the complex model into simple, transparent rules using a </a:t>
            </a:r>
            <a:r>
              <a:rPr lang="en-US" b="1" dirty="0"/>
              <a:t>Decision Tree</a:t>
            </a:r>
            <a:r>
              <a:rPr lang="en-US" dirty="0"/>
              <a:t>.</a:t>
            </a:r>
            <a:endParaRPr lang="en-US" sz="2400" dirty="0"/>
          </a:p>
          <a:p>
            <a:pPr fontAlgn="base"/>
            <a:r>
              <a:rPr lang="en-US" b="1" dirty="0"/>
              <a:t>Key Finding:</a:t>
            </a:r>
            <a:r>
              <a:rPr lang="en-US" dirty="0"/>
              <a:t> The model’s logic is not a "black box" and can be explained with simple "if-then" rules.</a:t>
            </a:r>
          </a:p>
          <a:p>
            <a:pPr fontAlgn="base"/>
            <a:r>
              <a:rPr lang="en-US" b="1" dirty="0"/>
              <a:t>Critical Insight:</a:t>
            </a:r>
            <a:r>
              <a:rPr lang="en-US" dirty="0"/>
              <a:t> We can clearly show stakeholders </a:t>
            </a:r>
            <a:r>
              <a:rPr lang="en-US" i="1" dirty="0"/>
              <a:t>why</a:t>
            </a:r>
            <a:r>
              <a:rPr lang="en-US" dirty="0"/>
              <a:t> a supplier is classified in a certain way.</a:t>
            </a:r>
          </a:p>
          <a:p>
            <a:pPr fontAlgn="base"/>
            <a:r>
              <a:rPr lang="en-US" b="1" dirty="0"/>
              <a:t>Business Impact:</a:t>
            </a:r>
            <a:r>
              <a:rPr lang="en-US" dirty="0"/>
              <a:t> This builds trust in the new framework and empowers procurement teams to make faster, more confident decisions.</a:t>
            </a:r>
          </a:p>
        </p:txBody>
      </p:sp>
    </p:spTree>
    <p:extLst>
      <p:ext uri="{BB962C8B-B14F-4D97-AF65-F5344CB8AC3E}">
        <p14:creationId xmlns:p14="http://schemas.microsoft.com/office/powerpoint/2010/main" val="350373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C870-0262-480C-2C2D-C3A2967D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DAD3-25D4-AA7E-5F0D-CB03DFEE0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Demonstration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22C52-137C-2C0E-E9ED-AFCB631ED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176867"/>
            <a:ext cx="10993816" cy="461433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We will show how to:</a:t>
            </a:r>
            <a:endParaRPr lang="en-US" dirty="0"/>
          </a:p>
          <a:p>
            <a:pPr fontAlgn="base"/>
            <a:r>
              <a:rPr lang="en-US" dirty="0"/>
              <a:t>View and filter the entire supplier base by the four new segments.</a:t>
            </a:r>
          </a:p>
          <a:p>
            <a:pPr fontAlgn="base"/>
            <a:r>
              <a:rPr lang="en-US" dirty="0"/>
              <a:t>Drill down into any supplier's detailed performance profile.</a:t>
            </a:r>
          </a:p>
          <a:p>
            <a:pPr fontAlgn="base"/>
            <a:r>
              <a:rPr lang="en-US" dirty="0"/>
              <a:t>Analyze "what-if" scenarios for performance improvement.</a:t>
            </a:r>
          </a:p>
          <a:p>
            <a:pPr marL="0" indent="0" algn="ctr" fontAlgn="base">
              <a:buNone/>
            </a:pPr>
            <a:r>
              <a:rPr lang="en-US" dirty="0">
                <a:hlinkClick r:id="rId2" action="ppaction://hlinkfile"/>
              </a:rPr>
              <a:t>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39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06BDC-B5C2-78E5-D388-1D0239F4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D533-2373-2AD0-8402-69306B7F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Lessons Learned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DBBD2-995E-6BB0-3982-C752EC8B9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176867"/>
            <a:ext cx="10993816" cy="46143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project yielded several key lessons for future data initiatives.</a:t>
            </a:r>
            <a:endParaRPr lang="en-US" sz="2400" dirty="0"/>
          </a:p>
          <a:p>
            <a:pPr marL="0" indent="0" fontAlgn="base">
              <a:buNone/>
            </a:pPr>
            <a:r>
              <a:rPr lang="en-US" b="1" dirty="0"/>
              <a:t>Technology:</a:t>
            </a:r>
            <a:endParaRPr lang="en-US" dirty="0"/>
          </a:p>
          <a:p>
            <a:pPr fontAlgn="base"/>
            <a:r>
              <a:rPr lang="en-US" dirty="0"/>
              <a:t>Engineered features provide far more value than raw data alone.</a:t>
            </a:r>
          </a:p>
          <a:p>
            <a:pPr fontAlgn="base"/>
            <a:r>
              <a:rPr lang="en-US" dirty="0"/>
              <a:t>Combining unsupervised and supervised models delivers the most powerful insights.</a:t>
            </a:r>
          </a:p>
          <a:p>
            <a:pPr marL="0" indent="0" fontAlgn="base">
              <a:buNone/>
            </a:pPr>
            <a:r>
              <a:rPr lang="en-US" b="1" dirty="0"/>
              <a:t>Management:</a:t>
            </a:r>
            <a:endParaRPr lang="en-US" dirty="0"/>
          </a:p>
          <a:p>
            <a:pPr fontAlgn="base"/>
            <a:r>
              <a:rPr lang="en-US" dirty="0"/>
              <a:t>Data quality is foundational; it must be a top priority with dedicated resources.</a:t>
            </a:r>
          </a:p>
          <a:p>
            <a:pPr fontAlgn="base"/>
            <a:r>
              <a:rPr lang="en-US" dirty="0"/>
              <a:t>Model interpretability is essential for driving organizational trust and adoption.</a:t>
            </a:r>
          </a:p>
          <a:p>
            <a:pPr marL="0" indent="0" fontAlgn="base">
              <a:buNone/>
            </a:pPr>
            <a:r>
              <a:rPr lang="en-US" b="1" dirty="0"/>
              <a:t>Personal:</a:t>
            </a:r>
            <a:endParaRPr lang="en-US" dirty="0"/>
          </a:p>
          <a:p>
            <a:pPr fontAlgn="base"/>
            <a:r>
              <a:rPr lang="en-US" dirty="0"/>
              <a:t>Deeply understanding the business context before beginning technical work is the key to a successful project.</a:t>
            </a:r>
          </a:p>
        </p:txBody>
      </p:sp>
    </p:spTree>
    <p:extLst>
      <p:ext uri="{BB962C8B-B14F-4D97-AF65-F5344CB8AC3E}">
        <p14:creationId xmlns:p14="http://schemas.microsoft.com/office/powerpoint/2010/main" val="864744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7210-8169-78E2-7822-6BA54835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9227-1F4E-0735-22B2-6384E717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740B0-6BA5-90E1-5787-158BA697B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176867"/>
            <a:ext cx="10993816" cy="4614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Project SCORPION provides a clear path to a more resilient and efficient supply chain.</a:t>
            </a:r>
            <a:endParaRPr lang="en-US" sz="2400" dirty="0"/>
          </a:p>
          <a:p>
            <a:pPr fontAlgn="base"/>
            <a:r>
              <a:rPr lang="en-US" b="1" dirty="0"/>
              <a:t>Goal Completion:</a:t>
            </a:r>
            <a:r>
              <a:rPr lang="en-US" dirty="0"/>
              <a:t> The project successfully met all business and data mining goals, delivering a validated framework to enhance resilience, drive savings, and strengthen partnerships.</a:t>
            </a:r>
          </a:p>
          <a:p>
            <a:pPr fontAlgn="base"/>
            <a:r>
              <a:rPr lang="en-US" b="1" dirty="0"/>
              <a:t>The Big Picture:</a:t>
            </a:r>
            <a:r>
              <a:rPr lang="en-US" dirty="0"/>
              <a:t> This analysis enables a fundamental shift for Conagra—from a </a:t>
            </a:r>
            <a:r>
              <a:rPr lang="en-US" b="1" dirty="0"/>
              <a:t>reactive cost center to a proactive, strategic value driver.</a:t>
            </a:r>
            <a:endParaRPr lang="en-US" dirty="0"/>
          </a:p>
          <a:p>
            <a:r>
              <a:rPr lang="en-US" b="1" dirty="0"/>
              <a:t>Next Step:</a:t>
            </a:r>
            <a:r>
              <a:rPr lang="en-US" dirty="0"/>
              <a:t> Deploy the dashboard and embed this new capability across the organization to build a more competitive supply chain for the future.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1825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0F52-0278-F438-EEFC-7E9DA77C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E93CF-28B2-070B-DFC5-3352672CE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0" y="1176867"/>
            <a:ext cx="10993816" cy="461433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en-US" sz="3200" dirty="0">
                <a:ea typeface="ＭＳ Ｐゴシック" panose="020B0600070205080204" pitchFamily="34" charset="-128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812188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14119</TotalTime>
  <Words>914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MS PGothic</vt:lpstr>
      <vt:lpstr>Arial</vt:lpstr>
      <vt:lpstr>Calibri</vt:lpstr>
      <vt:lpstr>Courier New</vt:lpstr>
      <vt:lpstr>Wingdings</vt:lpstr>
      <vt:lpstr>1_Office Theme</vt:lpstr>
      <vt:lpstr>PowerPoint Presentation</vt:lpstr>
      <vt:lpstr>Project Overview</vt:lpstr>
      <vt:lpstr>PowerPoint Presentation</vt:lpstr>
      <vt:lpstr>Summary of CRISP-DM Phases</vt:lpstr>
      <vt:lpstr>Phase 4.0 - A New Paradigm for Segmentation</vt:lpstr>
      <vt:lpstr>Phase 4.0 - The Four New Supplier Segments</vt:lpstr>
      <vt:lpstr>PowerPoint Presentation</vt:lpstr>
      <vt:lpstr>Phase 4.0 - Key Drivers of Performance</vt:lpstr>
      <vt:lpstr>Phase 4.0 - Making the Model Interpretable</vt:lpstr>
      <vt:lpstr>LIVE Demonstration</vt:lpstr>
      <vt:lpstr>Lessons Learned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700 Special Projects in Computer Science I Introduction</dc:title>
  <dc:creator>Nicholas Nardi</dc:creator>
  <cp:lastModifiedBy>Paulette Wolfe</cp:lastModifiedBy>
  <cp:revision>37</cp:revision>
  <dcterms:created xsi:type="dcterms:W3CDTF">2022-01-22T15:09:01Z</dcterms:created>
  <dcterms:modified xsi:type="dcterms:W3CDTF">2025-07-26T14:58:09Z</dcterms:modified>
</cp:coreProperties>
</file>